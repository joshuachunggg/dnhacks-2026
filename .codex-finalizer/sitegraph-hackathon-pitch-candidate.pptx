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08bd8c39ef4dc6" /><Relationship Type="http://schemas.openxmlformats.org/officeDocument/2006/relationships/extended-properties" Target="/docProps/app.xml" Id="R4d09732256ed4964" /><Relationship Type="http://schemas.openxmlformats.org/officeDocument/2006/relationships/officeDocument" Target="/ppt/presentation.xml" Id="R4a964d993e7f45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b46d6fc19a436a"/>
  </p:sldMasterIdLst>
  <p:notesMasterIdLst>
    <p:notesMasterId xmlns:r="http://schemas.openxmlformats.org/officeDocument/2006/relationships" r:id="Ra31bcf43bf6d4cef"/>
  </p:notesMasterIdLst>
  <p:sldIdLst>
    <p:sldId xmlns:r="http://schemas.openxmlformats.org/officeDocument/2006/relationships" id="256" r:id="R2cb1feb5cc5d4adf"/>
    <p:sldId xmlns:r="http://schemas.openxmlformats.org/officeDocument/2006/relationships" id="257" r:id="R2feae5495ee04524"/>
    <p:sldId xmlns:r="http://schemas.openxmlformats.org/officeDocument/2006/relationships" id="258" r:id="R0a2c6780333c4e52"/>
    <p:sldId xmlns:r="http://schemas.openxmlformats.org/officeDocument/2006/relationships" id="259" r:id="R2516fbaee6ff4a83"/>
    <p:sldId xmlns:r="http://schemas.openxmlformats.org/officeDocument/2006/relationships" id="260" r:id="Ra63105aef42f48d4"/>
    <p:sldId xmlns:r="http://schemas.openxmlformats.org/officeDocument/2006/relationships" id="261" r:id="Rb21d8bd741e44f25"/>
    <p:sldId xmlns:r="http://schemas.openxmlformats.org/officeDocument/2006/relationships" id="262" r:id="R6573264c9ed340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c7045b32b448a0" /><Relationship Type="http://schemas.openxmlformats.org/officeDocument/2006/relationships/slideMaster" Target="/ppt/slideMasters/slideMaster1.xml" Id="Rf2b46d6fc19a436a" /><Relationship Type="http://schemas.openxmlformats.org/officeDocument/2006/relationships/notesMaster" Target="/ppt/notesMasters/notesMaster1.xml" Id="Ra31bcf43bf6d4cef" /><Relationship Type="http://schemas.openxmlformats.org/officeDocument/2006/relationships/presProps" Target="/ppt/presProps.xml" Id="R510e346633e1499f" /><Relationship Type="http://schemas.openxmlformats.org/officeDocument/2006/relationships/tableStyles" Target="/ppt/tableStyles.xml" Id="Rc019c96ff07142b4" /><Relationship Type="http://schemas.openxmlformats.org/officeDocument/2006/relationships/slide" Target="/ppt/slides/slide1.xml" Id="R2cb1feb5cc5d4adf" /><Relationship Type="http://schemas.openxmlformats.org/officeDocument/2006/relationships/slide" Target="/ppt/slides/slide2.xml" Id="R2feae5495ee04524" /><Relationship Type="http://schemas.openxmlformats.org/officeDocument/2006/relationships/slide" Target="/ppt/slides/slide3.xml" Id="R0a2c6780333c4e52" /><Relationship Type="http://schemas.openxmlformats.org/officeDocument/2006/relationships/slide" Target="/ppt/slides/slide4.xml" Id="R2516fbaee6ff4a83" /><Relationship Type="http://schemas.openxmlformats.org/officeDocument/2006/relationships/slide" Target="/ppt/slides/slide5.xml" Id="Ra63105aef42f48d4" /><Relationship Type="http://schemas.openxmlformats.org/officeDocument/2006/relationships/slide" Target="/ppt/slides/slide6.xml" Id="Rb21d8bd741e44f25" /><Relationship Type="http://schemas.openxmlformats.org/officeDocument/2006/relationships/slide" Target="/ppt/slides/slide7.xml" Id="R6573264c9ed340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cfaa48241749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2fce2f916d4b60" /><Relationship Type="http://schemas.openxmlformats.org/officeDocument/2006/relationships/notesMaster" Target="/ppt/notesMasters/notesMaster1.xml" Id="Rd65137b962a24e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de9bb77b9540af" /><Relationship Type="http://schemas.openxmlformats.org/officeDocument/2006/relationships/notesMaster" Target="/ppt/notesMasters/notesMaster1.xml" Id="R0c33a8d32c1c49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4318ab55ad450d" /><Relationship Type="http://schemas.openxmlformats.org/officeDocument/2006/relationships/notesMaster" Target="/ppt/notesMasters/notesMaster1.xml" Id="Rd445ef78d84643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d175f41ec643aa" /><Relationship Type="http://schemas.openxmlformats.org/officeDocument/2006/relationships/notesMaster" Target="/ppt/notesMasters/notesMaster1.xml" Id="Rd00c4078e69c4f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6686fb7d6e4f96" /><Relationship Type="http://schemas.openxmlformats.org/officeDocument/2006/relationships/notesMaster" Target="/ppt/notesMasters/notesMaster1.xml" Id="Rdafa91e54b5e48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c73cac4ba1416a" /><Relationship Type="http://schemas.openxmlformats.org/officeDocument/2006/relationships/notesMaster" Target="/ppt/notesMasters/notesMaster1.xml" Id="Ra033b3f38c7745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9694c79c984ad2" /><Relationship Type="http://schemas.openxmlformats.org/officeDocument/2006/relationships/notesMaster" Target="/ppt/notesMasters/notesMaster1.xml" Id="R92843fa5dfaa4b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SiteGraph gives homeowners an evidence-based planning layer for complex home projects. Today’s demo focuses on a new Level 2 EV charger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Pain point: residential projects are opaque precisely when stakes are high. We serve homeowners, especially those planning upgrades without technical training. We do not replace licensed professionals.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capability: RoomPlan-backed spatial context, typed evidence, deterministic engineering and cost scenarios, and installer handoff. The displayed range is preliminary and fixture-scoped, never a contractor quote.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proof for judges: native RoomPlan capture and USDZ backup, direct Realtime PCM transport with server-minted ephemeral secrets, bounded consumer-capability policy, Zod-validated SiteGraph events, evidence registry, deterministic engineering and cost contracts, explicit insufficient_data and partial-range states, and regression checks. This directly addresses technical sophistication and reliability in the official DNHacks rubric: https://portal.dnhacks.org/e/2026/judging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Future: quote comparison and broader home-project intelligence are product directions, not current features. The demonstrated foundation is structured evidence and explicit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Ethos: democratize access to difficult home information, but do it honestly. Provenance, scope boundaries, and professional checks are product features, not disclaimers added at the 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Close: SiteGraph helps homeowners go from a question to a transparent plan. We start with EV charging and build toward a more legible home.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548ec8f204b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159141bfa2496c" /><Relationship Type="http://schemas.openxmlformats.org/officeDocument/2006/relationships/slideLayout" Target="/ppt/slideLayouts/slideLayout1.xml" Id="R112e4d13326e41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2e4d13326e41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2f4c52efb412d" /><Relationship Type="http://schemas.openxmlformats.org/officeDocument/2006/relationships/notesSlide" Target="/ppt/notesSlides/notesSlide1.xml" Id="Ra37ec0dc2dd24d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51b90ce6741d8" /><Relationship Type="http://schemas.openxmlformats.org/officeDocument/2006/relationships/notesSlide" Target="/ppt/notesSlides/notesSlide2.xml" Id="R64f20e03979948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3bfe944a4470e" /><Relationship Type="http://schemas.openxmlformats.org/officeDocument/2006/relationships/notesSlide" Target="/ppt/notesSlides/notesSlide3.xml" Id="R64cf7141ede146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5f69ff531458c" /><Relationship Type="http://schemas.openxmlformats.org/officeDocument/2006/relationships/notesSlide" Target="/ppt/notesSlides/notesSlide4.xml" Id="Re9bd06e4647e44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c0177e6004a34" /><Relationship Type="http://schemas.openxmlformats.org/officeDocument/2006/relationships/notesSlide" Target="/ppt/notesSlides/notesSlide5.xml" Id="R5302d1363d2c4c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8f78d4b294db7" /><Relationship Type="http://schemas.openxmlformats.org/officeDocument/2006/relationships/notesSlide" Target="/ppt/notesSlides/notesSlide6.xml" Id="Rf34b19a28aab4f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31c991bd84df2" /><Relationship Type="http://schemas.openxmlformats.org/officeDocument/2006/relationships/notesSlide" Target="/ppt/notesSlides/notesSlide7.xml" Id="R8d276e18514342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C9A1AD-D115-4D63-9B7A-A8FC9964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67D85-4450-44C4-9507-1DF6A5C6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SITEGRAPH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C60E7-9CBC-4241-8B82-D7612993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600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A field engineer</a:t>
            </a:r>
          </a:p>
          <a:p xmlns:a="http://schemas.openxmlformats.org/drawingml/2006/main">
            <a:pPr>
              <a:defRPr sz="40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for every homeowner.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465A3-3C79-4B12-BA65-60340A1F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337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96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9606F"/>
                </a:solidFill>
                <a:latin typeface="Helvetica Neue"/>
                <a:ea typeface="Helvetica Neue"/>
                <a:cs typeface="Helvetica Neue"/>
              </a:rPr>
              <a:t>Understand the house, plan the project, and walk into every quote with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CEC96-FBBF-4293-8D25-65EC8DCF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2781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DF2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EE4C9-8AEF-44C4-8AB1-788B7E87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STARTING WITH LEVEL 2 EV CHARGING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B8A9B-9417-42CB-BDE4-12C7BCA7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19150"/>
            <a:ext cx="3981450" cy="41338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C0FF9-2F89-4DE0-A204-88A41B67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573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3E197-6FB1-41B4-A88E-CD29E6CB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573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8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0F885-8F8E-44E3-9346-AE037DA5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25730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4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E5743-95DE-44CD-B8FD-FE0250F1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098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4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4BA7D-2C2E-435F-BB23-89DC2861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4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A0C1E-8265-4E68-9F6C-ABFE1036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8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2FB00-8448-4725-8BE7-5C0D54E8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0985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8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D61C1-5262-40BE-BB67-734F7EF4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2F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B2362E-0FAC-4567-AEC8-CD1BFE8D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3375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EVSE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BFF79-940E-4835-94AD-FA0239BD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85925"/>
            <a:ext cx="495300" cy="5905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AF9E0-D1F6-445D-BFF5-DFEDD2F6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1452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81AF17-D5ED-42B1-BFE7-7BA965B2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4315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panel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5EA7F-D530-421D-8A6B-C64854C3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81300"/>
            <a:ext cx="628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garage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E8E5C-22D7-4843-AE58-443D5148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31 ft planned route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7EB35-F383-47FC-B579-55B4C18C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72100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4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7D07C-0FD9-481E-9A6E-C378627D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5721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Spatial context  •  structured evidence  •  clear next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08CFC-C0D2-4D52-8EC3-9902F57F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3885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95F748-05FF-4E22-AE85-AD04DF40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DNHacks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6C8A25-33A1-45D5-A2FD-763F554D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3055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DEC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DECF1"/>
                </a:solidFill>
                <a:latin typeface="Helvetica Neue"/>
                <a:ea typeface="Helvetica Neue"/>
                <a:cs typeface="Helvetica Neue"/>
              </a:rPr>
              <a:t>A more legible home changes who gets to make informed decisions.</a:t>
            </a:r>
          </a:p>
        </p:txBody>
      </p:sp>
    </p:spTree>
    <p:extLst>
      <p:ext uri="{BB962C8B-B14F-4D97-AF65-F5344CB8AC3E}">
        <p14:creationId xmlns:p14="http://schemas.microsoft.com/office/powerpoint/2010/main" val="16517607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0F4578-0B40-403F-9212-2E39C03C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49C24-78FE-4A63-BBAD-1C558D97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792F4-DEF0-4CC3-A170-0A4BADDC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76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35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The homeowner starts at an information disadvantage.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69739-2F7D-422E-B2E9-706792F6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F"/>
                </a:solidFill>
                <a:latin typeface="Helvetica Neue"/>
                <a:ea typeface="Helvetica Neue"/>
                <a:cs typeface="Helvetica Neue"/>
              </a:rPr>
              <a:t>The hardest part of a home project often arrives before any work begins.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01A09-2649-43C1-8800-903C6009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4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BFEB3-9919-4FC3-AF4B-40524B95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294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SITEGRAPH  |  DNHACKS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E92A7-C0B3-423A-B43C-4F92F5BE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294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27DF5-420A-47CC-B114-21C9BE1E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33718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FDC95-28A5-4C19-96E5-73425C3A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F92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17EC3-7FEF-4937-9870-54F06294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60564-E952-42A1-BA68-3295CF35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Opaque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B41EC-1893-4CD2-88B1-BAE07471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5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rPr>
              <a:t>A quote can hide what the work assumes about the panel, route, service, or permit path.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11BD3-356E-4082-A6BF-41FEB284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38375"/>
            <a:ext cx="33718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EAF5F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1E84DB-ACB6-4281-8BCE-B72EA618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8678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A2387-F7FA-447B-8FEB-8A38714C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908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8BD06C-69D0-4690-8CBF-D85C7BF5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86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Uneven expertise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FE190-9315-4DC0-9B16-F3801CF1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7662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5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rPr>
              <a:t>The homeowner has to evaluate technical claims without the observations that support them.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C64EE9-80E9-4886-ADDB-E022618B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38375"/>
            <a:ext cx="33718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F6FCD1-C282-4D1E-8A67-F0E35B93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F928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A50E1-56A7-4DF8-9518-2B98D96F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908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8042E-3BF4-42C3-A2F6-2D6B625E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86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Costly uncertainty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C6E941-8B82-4DD1-B5CA-A2EFE197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7662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5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rPr>
              <a:t>A vague recommendation can become an avoidable upgrade, delay, or predatory price.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780465-0B7A-444D-AD0A-310C3D22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257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526150-55D5-42F3-AD9D-449AEB5B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91100"/>
            <a:ext cx="1028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WHO WE SERVE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0ABB4E-FB4C-4AAB-8C95-00196C7D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959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03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Homeowners planning a high-stakes upgrade who need enough clarity to ask better questions, compare scope, and know when a licensed professional must decide.</a:t>
            </a:r>
          </a:p>
        </p:txBody>
      </p:sp>
    </p:spTree>
    <p:extLst>
      <p:ext uri="{BB962C8B-B14F-4D97-AF65-F5344CB8AC3E}">
        <p14:creationId xmlns:p14="http://schemas.microsoft.com/office/powerpoint/2010/main" val="711480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ED252A-72F1-4230-8CA5-E9AB041C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DBC6A-2A10-4535-95F8-3ACB0C2F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FAC53-242E-4593-A63E-F27801B8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76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37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Today, SiteGraph turns a room into a defensible starting 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2450F-6135-428D-B9E5-87AA3C3D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F"/>
                </a:solidFill>
                <a:latin typeface="Helvetica Neue"/>
                <a:ea typeface="Helvetica Neue"/>
                <a:cs typeface="Helvetica Neue"/>
              </a:rPr>
              <a:t>A guided capture flow creates a shared record before anyone starts guessing.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C02D5-7327-4E30-9643-98034A6C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4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EB2F7-20EE-41CF-86B5-1D49AE10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294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SITEGRAPH  |  DNHACKS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663A1-78A4-4F3B-8933-45509AE1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294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BEB40-87A5-4D7C-8630-9D139610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4003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59D4C-677A-4EA0-BE56-AF002450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F4752-2627-48ED-8F60-EFFEC1B4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337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FE1DE-A94D-4D1A-9259-CE482C27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1943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rPr>
              <a:t>Scan one room and collect panel, route, and proposed-location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42CAA-DD8B-4BA7-A9E4-40AE35A8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24003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7ABCA-120E-494F-ACE5-4AE08922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28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D1D8C-5F39-480C-9639-58249A75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337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34FED-1E98-4C4A-BAE9-3F5917B3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81400"/>
            <a:ext cx="1943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rPr>
              <a:t>Label what was observed, supplied, or estimated. Keep confidence and evidence visible.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0622A-FB90-4571-964C-AC72F4FE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4003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BD2F4-83E9-4382-9F91-1038759D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2C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2C4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4CF1D-08A8-4224-A602-3423AD15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337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Calculate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45CB3D-2A3A-437E-81C4-2E4C35AF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81400"/>
            <a:ext cx="1943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DEC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DECF1"/>
                </a:solidFill>
                <a:latin typeface="Helvetica Neue"/>
                <a:ea typeface="Helvetica Neue"/>
                <a:cs typeface="Helvetica Neue"/>
              </a:rPr>
              <a:t>Run deterministic feasibility and planning-cost tools against the structured assessment.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5431F-4266-4F03-8D39-6491DCA7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81250"/>
            <a:ext cx="24003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18F140-7239-4158-8515-1CB5724E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28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6F1654-650A-45F8-B66A-391ECDE1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337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Handoff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2534C7-A5FC-49F7-98D8-855227F5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81400"/>
            <a:ext cx="1943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rPr>
              <a:t>Show assumptions, unresolved checks, and the questions for an electrician or installer.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344A71-1CE3-4E7A-977D-392E4E3E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05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78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0497C3-9AF9-487D-B0B3-80A8F2F3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05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78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E2BBA6-BCB1-4797-B21F-BC374970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05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78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89A8A0-EF0C-4A43-A199-F3B74E8A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2019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DF2F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FA658D-B9AB-439D-A603-FA0DDB3E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14950"/>
            <a:ext cx="1790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CURRENT DEMO BOUNDARY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81C7CB-C371-4C2A-BC3D-CCF93F8F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Level 2 EV charger planning with seeded or captured evidence, preliminary ranges, explicit provenance, and professional-verification items. No quote, certification, or permit approval claim.</a:t>
            </a:r>
          </a:p>
        </p:txBody>
      </p:sp>
    </p:spTree>
    <p:extLst>
      <p:ext uri="{BB962C8B-B14F-4D97-AF65-F5344CB8AC3E}">
        <p14:creationId xmlns:p14="http://schemas.microsoft.com/office/powerpoint/2010/main" val="1928449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ACEA2E-E19A-4564-85F1-193EBD7F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43220-C3BF-4436-97DD-D6514C0D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779EE-6E0D-4D18-868E-FECF4F45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76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124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AI guides the work. Deterministic tools defend the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94FD8-6C3D-407C-A77C-BCBDBB9D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97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F"/>
                </a:solidFill>
                <a:latin typeface="Helvetica Neue"/>
                <a:ea typeface="Helvetica Neue"/>
                <a:cs typeface="Helvetica Neue"/>
              </a:rPr>
              <a:t>SiteGraph couples a real-time field assistant with typed evidence and calculations that fail closed when facts are missing.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25C6C-F3A3-41C8-94A7-EA4B347A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4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86D28-6E77-438B-81E4-83175190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294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SITEGRAPH  |  DNHACKS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0B096-03BE-4516-9FD1-D2ADBD22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294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862CB-C306-494D-BEBE-39DC63F9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029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48162-5391-4599-B874-62766877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14575"/>
            <a:ext cx="2552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01  Spatial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9C551-960C-42CE-8DCB-8ED943D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7677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rPr>
              <a:t>Native RoomPlan scan, local USDZ artifact, and a SHA-256 descriptor preserve a concrete spatial record.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1874FE-6B92-4928-BB8F-2E2E0962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19425"/>
            <a:ext cx="11029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3A2AA-ABAD-428A-9F1F-2186FDF9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2552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02  Real-time guide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4DA7F-5FAA-4422-B28A-00BA65CD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52775"/>
            <a:ext cx="7677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5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rPr>
              <a:t>A server-minted Realtime session gathers structured facts, requests only supported evidence, and follows a bounded policy.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85C18-13F8-4155-BCAC-66B02ECF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1029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F4C6E-D4EB-45FC-B6A0-982BD03C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2552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03  Typed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1634A-2763-4B6B-A2E4-779D2B08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9550"/>
            <a:ext cx="7677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rPr>
              <a:t>Zod-validated SiteGraph events label observations, user inputs, spatial facts, confidence, and evidence IDs.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5FC4C-4948-4357-91A5-5BC68945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52975"/>
            <a:ext cx="11029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B58C9-6A69-4AC1-A78D-CC0355FD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2552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04  Deterministic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FAEFFE-8019-4397-915F-6C2FF539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86325"/>
            <a:ext cx="7677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7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rPr>
              <a:t>Engineering and cost services return assumptions, warnings, provenance, and insufficient-data states instead of invented certainty.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065FA-4D22-4929-AFDF-2EDFE9FA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5240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217BB3-199D-4308-B8D8-7BB5163F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0B9618-26A0-465F-9234-D2F65507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927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579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The model makes capture conversational. The system makes results auditable. That is what lets AI participate in a high-trust home decision without becoming the final authority.</a:t>
            </a:r>
          </a:p>
        </p:txBody>
      </p:sp>
    </p:spTree>
    <p:extLst>
      <p:ext uri="{BB962C8B-B14F-4D97-AF65-F5344CB8AC3E}">
        <p14:creationId xmlns:p14="http://schemas.microsoft.com/office/powerpoint/2010/main" val="1862693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B15198-E2A2-4064-B20D-F749066C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2789E-886D-49E8-81A5-EB11250F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E272E-5618-47E7-AFF6-2F0DE2CA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76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1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The EV charger is the wedge. The home is the platform.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22096-1562-4C29-AA57-3B56C503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F"/>
                </a:solidFill>
                <a:latin typeface="Helvetica Neue"/>
                <a:ea typeface="Helvetica Neue"/>
                <a:cs typeface="Helvetica Neue"/>
              </a:rPr>
              <a:t>The same evidence layer can make more of the home understandable before a purchase or proposal.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4A5FC-7458-437C-BAEE-65705F3D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4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FF43B-4652-4AA1-9185-7DF6D4BF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294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SITEGRAPH  |  DNHACKS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2B446-5C1A-4CCE-BFD3-C965BC96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294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1A936-EC0E-420A-984B-013D0181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34861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48FBC-3131-47AF-88FE-12F5C7AE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81275"/>
            <a:ext cx="742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2C46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EDE1F-2E98-4D5C-92C8-A68302CF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DD4DE-03D4-4CA5-B3F8-19286075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9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 charger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BF803-F3CD-4FF6-93B1-9A9B349E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1477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DEC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DECF1"/>
                </a:solidFill>
                <a:latin typeface="Helvetica Neue"/>
                <a:ea typeface="Helvetica Neue"/>
                <a:cs typeface="Helvetica Neue"/>
              </a:rPr>
              <a:t>Capture spatial context, model a route, and surface a transparent planning range.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BC1CA-2786-4CA3-972B-1330E7C4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34861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D8A67-F532-4F78-B548-3910C09D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81275"/>
            <a:ext cx="742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DF2F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E74B2-6642-44F2-9803-8822702C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38425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E206A-7D9B-46B5-9A94-CB322E05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9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Quote-ready</a:t>
            </a:r>
          </a:p>
          <a:p xmlns:a="http://schemas.openxmlformats.org/drawingml/2006/main">
            <a:pPr>
              <a:defRPr sz="210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comparisons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F22E6-ED51-4E46-8CBA-E3D3FF77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1477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rPr>
              <a:t>Normalize scope, assumptions, exclusions, and questions across contractor proposals.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30BBE-4816-4C22-A0A1-7BED5FBB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33625"/>
            <a:ext cx="34861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07EF6-E5A4-4EBE-8AA0-FC8C76A8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81275"/>
            <a:ext cx="742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DF2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1F481-5906-4A32-B5E1-F6AB4F1A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38425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THEN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BF5051-8DB5-4082-BFB0-939B3083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861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9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Home project</a:t>
            </a:r>
          </a:p>
          <a:p xmlns:a="http://schemas.openxmlformats.org/drawingml/2006/main">
            <a:pPr>
              <a:defRPr sz="210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intelligence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D140D-FD5C-436D-BE60-1F4CBF6A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1477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rPr>
              <a:t>Apply the same record to electrification, remodels, additions, and adjacent-room changes.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9C64C-153A-496F-A329-7B33DDB3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86175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78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46E1A8-BDC8-4369-96C2-FE8C86AC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86175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78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04ADB5-7F6E-44F4-94C4-D0DA8456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The goal: make each project more legible before homeowners commit time or money.</a:t>
            </a:r>
          </a:p>
        </p:txBody>
      </p:sp>
    </p:spTree>
    <p:extLst>
      <p:ext uri="{BB962C8B-B14F-4D97-AF65-F5344CB8AC3E}">
        <p14:creationId xmlns:p14="http://schemas.microsoft.com/office/powerpoint/2010/main" val="1284343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797876-22F0-4D72-B73C-A4A521FA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EA313-3CF5-49BD-9364-189A1A1C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CF042-7B52-44D1-9DF0-F357607D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76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Our product ethic: clarity without false certainty.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55635-8925-410A-ADAE-F8D5A251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F"/>
                </a:solidFill>
                <a:latin typeface="Helvetica Neue"/>
                <a:ea typeface="Helvetica Neue"/>
                <a:cs typeface="Helvetica Neue"/>
              </a:rPr>
              <a:t>SiteGraph should make the homeowner more capable while keeping professional boundaries clear.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768A7-E230-47A2-A5C6-1D12BE27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4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EF34A-06F1-4F00-83B7-0D8EFD04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294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SITEGRAPH  |  DNHACKS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55B3E-CE2B-4899-9271-E8330B9A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294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286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28678A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BF18D-0070-442B-84B9-57D54930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6F92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2C8A5-3B01-48DD-A107-CCB0DEAC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0507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5D934-C342-41D0-8F47-E5EF19CC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145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Evidence over theater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D4424-C5E4-4D38-BDC8-E217FA51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765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rPr>
              <a:t>Every recommendation carries its inputs, source, assumptions, and unresolved checks.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1458D-6537-49DB-B9E2-F02491DA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38400"/>
            <a:ext cx="3676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EFD85-14B1-4DFE-B525-F455B3E7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00325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“Show me why.”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6856E-18B8-4EBE-BE42-0A305520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8678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7C8CD-9BF1-453E-AEFB-1124CE2D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42257-A022-44F5-89EC-9E53704E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147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Education without upsell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764EE-3CDB-40D3-9702-F28B184F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7667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rPr>
              <a:t>We explain the project in plain language so homeowners can compare options on their terms.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4029C-CC0F-466C-A742-7F87AF00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38550"/>
            <a:ext cx="3676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5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082E6F-C4E7-47BE-A1BE-D51BB6C7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00475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“Help me compare.”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35CB3-5B7B-4A02-893E-4BECECE0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6F92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994161-F794-4A6C-A4EA-7B866254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668439-A60F-47F2-8064-1FED39A2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148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Respect the boundary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8AFCE0-10A4-4B26-8009-DE8CC1E5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768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05564"/>
                </a:solidFill>
                <a:latin typeface="Helvetica Neue"/>
                <a:ea typeface="Helvetica Neue"/>
                <a:cs typeface="Helvetica Neue"/>
              </a:rPr>
              <a:t>We surface the questions. Licensed professionals make the decisions that require them.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54847-DB24-4BDF-BFB9-1572CB78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38700"/>
            <a:ext cx="3676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0C1304-E2C6-4711-B915-8F0AB7CC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00625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“Tell me what I still need.”</a:t>
            </a:r>
          </a:p>
        </p:txBody>
      </p:sp>
    </p:spTree>
    <p:extLst>
      <p:ext uri="{BB962C8B-B14F-4D97-AF65-F5344CB8AC3E}">
        <p14:creationId xmlns:p14="http://schemas.microsoft.com/office/powerpoint/2010/main" val="10068137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83B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4EF2F5-6EEA-4E14-ACE4-02E9104A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C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2C46D"/>
                </a:solidFill>
                <a:latin typeface="Helvetica Neue"/>
                <a:ea typeface="Helvetica Neue"/>
                <a:cs typeface="Helvetica Neue"/>
              </a:rPr>
              <a:t>SITEGRAPH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BB6C3-EEFE-41A4-9169-4873C245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66825"/>
            <a:ext cx="6286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44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Every homeowner deserves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clear view of the project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inside their walls.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BC1B1-672E-4116-8359-3167A977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552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414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DEC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DECF1"/>
                </a:solidFill>
                <a:latin typeface="Helvetica Neue"/>
                <a:ea typeface="Helvetica Neue"/>
                <a:cs typeface="Helvetica Neue"/>
              </a:rPr>
              <a:t>We are building the planning layer that makes hard home decisions easier to understand, safer to question, and harder to price unfairly.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5821A-0C3D-4D69-A4F6-E9D31E58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2382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2C46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64410-69B2-4C77-92DF-5C64902E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1009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DNHACKS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14947-22F3-4B0A-8705-AAC8F703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Thank you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4DC14-1D87-4E8A-B3A1-97C5A1A2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295400"/>
            <a:ext cx="31813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204B6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ECD6A-BABA-4843-8705-6FEFD611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914525"/>
            <a:ext cx="2381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9525">
            <a:solidFill>
              <a:srgbClr val="7DA6B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68E81-203F-425E-B0E5-1D9D474C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914525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6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A9582-9CC4-4179-8621-DA97EFD3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47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6B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3A430-8E36-4771-9A33-900D5FB3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8765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6B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4B94A-EE8C-4EFB-AB1B-A8E3AF4D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24175"/>
            <a:ext cx="47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6B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2DC02-E689-49FF-A26E-C7E47583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24175"/>
            <a:ext cx="47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6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9584A-CDCE-4A4B-BC8B-852A4CE3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669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C46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D7293-EFC3-4F43-8FA1-106CD7B1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52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1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DCAF13-751E-400C-A143-2C71C0F7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62300"/>
            <a:ext cx="428625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DF2F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6911E-32B2-46B5-AF30-E3A654AF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30517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83B56"/>
                </a:solidFill>
                <a:latin typeface="Helvetica Neue"/>
                <a:ea typeface="Helvetica Neue"/>
                <a:cs typeface="Helvetica Neue"/>
              </a:rPr>
              <a:t>EV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59967-89A1-4592-A4C5-7821D2B1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863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46D"/>
                </a:solidFill>
                <a:latin typeface="Helvetica Neue"/>
                <a:ea typeface="Helvetica Neue"/>
                <a:cs typeface="Helvetica Neue"/>
              </a:rPr>
              <a:t>A question becomes a plan.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4715BF-EBED-4E10-ADD4-63C40EF2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F7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794C0-F3BC-4671-AFCB-A1921924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6381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FC9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FC9D5"/>
                </a:solidFill>
                <a:latin typeface="Helvetica Neue"/>
                <a:ea typeface="Helvetica Neue"/>
                <a:cs typeface="Helvetica Neue"/>
              </a:rPr>
              <a:t>sitegraph  |  spatial evidence for better home decisions</a:t>
            </a:r>
          </a:p>
        </p:txBody>
      </p:sp>
    </p:spTree>
    <p:extLst>
      <p:ext uri="{BB962C8B-B14F-4D97-AF65-F5344CB8AC3E}">
        <p14:creationId xmlns:p14="http://schemas.microsoft.com/office/powerpoint/2010/main" val="751461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2026-09-06T12:57:30.9500000Z</dcterms:created>
  <dcterms:modified xsi:type="dcterms:W3CDTF">2026-09-06T12:57:30.9500000Z</dcterms:modified>
</coreProperties>
</file>